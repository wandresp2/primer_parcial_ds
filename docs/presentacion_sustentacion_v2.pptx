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6" r:id="rId17"/>
    <p:sldId id="270" r:id="rId18"/>
    <p:sldId id="271" r:id="rId19"/>
    <p:sldId id="277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FC7BD"/>
                </a:solidFill>
                <a:latin typeface="Segoe UI"/>
              </a:rPr>
              <a:t>PRIMER PARCIAL · DESARROLLO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De las líneas espectrales del NIST a una base de datos científica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FDDE8"/>
                </a:solidFill>
                <a:latin typeface="Segoe UI"/>
              </a:rPr>
              <a:t>Óptica y fotónica — NIST Atomic Spectra Database (líneas H a 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1005840" cy="381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Andrés David Pérez Criollo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7D6E2"/>
                </a:solidFill>
                <a:latin typeface="Segoe UI"/>
              </a:rPr>
              <a:t>Sustentación — 21 de septiembre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12A46"/>
                </a:solidFill>
                <a:latin typeface="Segoe UI"/>
              </a:rPr>
              <a:t>Python  ·  Pandas  ·  MySQL  ·  Docker  ·  JupyterLab  ·  DBeaver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HOJA DE RUTA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>
                <a:solidFill>
                  <a:srgbClr val="112A46"/>
                </a:solidFill>
                <a:latin typeface="Segoe UI"/>
              </a:rPr>
              <a:t>Un mismo hilo conductor, de principio a fin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7333F"/>
                </a:solidFill>
                <a:latin typeface="Segoe UI"/>
              </a:rPr>
              <a:t>El proyecto no son piezas sueltas: cada etapa recibe lo que entrega la anterior y prepara lo que necesita la siguiente. Este es el orden que se sigue en toda la sustentación.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94760"/>
            <a:ext cx="10911535" cy="3175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9170" y="3624580"/>
            <a:ext cx="365760" cy="365760"/>
          </a:xfrm>
          <a:prstGeom prst="ellipse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5" y="4079240"/>
            <a:ext cx="147366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12A46"/>
                </a:solidFill>
                <a:latin typeface="Segoe UI"/>
              </a:rPr>
              <a:t>Fenómeno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97582"/>
                </a:solidFill>
                <a:latin typeface="Segoe UI"/>
              </a:rPr>
              <a:t>Qué se estudia</a:t>
            </a:r>
          </a:p>
        </p:txBody>
      </p:sp>
      <p:sp>
        <p:nvSpPr>
          <p:cNvPr id="9" name="Oval 8"/>
          <p:cNvSpPr/>
          <p:nvPr/>
        </p:nvSpPr>
        <p:spPr>
          <a:xfrm>
            <a:off x="2503111" y="3624580"/>
            <a:ext cx="365760" cy="365760"/>
          </a:xfrm>
          <a:prstGeom prst="ellips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9156" y="2770632"/>
            <a:ext cx="147366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12A46"/>
                </a:solidFill>
                <a:latin typeface="Segoe UI"/>
              </a:rPr>
              <a:t>Datos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97582"/>
                </a:solidFill>
                <a:latin typeface="Segoe UI"/>
              </a:rPr>
              <a:t>NIST ASD</a:t>
            </a:r>
          </a:p>
        </p:txBody>
      </p:sp>
      <p:sp>
        <p:nvSpPr>
          <p:cNvPr id="11" name="Oval 10"/>
          <p:cNvSpPr/>
          <p:nvPr/>
        </p:nvSpPr>
        <p:spPr>
          <a:xfrm>
            <a:off x="3867052" y="3624580"/>
            <a:ext cx="365760" cy="365760"/>
          </a:xfrm>
          <a:prstGeom prst="ellipse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3097" y="4079240"/>
            <a:ext cx="147366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12A46"/>
                </a:solidFill>
                <a:latin typeface="Segoe UI"/>
              </a:rPr>
              <a:t>Exploración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97582"/>
                </a:solidFill>
                <a:latin typeface="Segoe UI"/>
              </a:rPr>
              <a:t>Cifras y gráficas</a:t>
            </a:r>
          </a:p>
        </p:txBody>
      </p:sp>
      <p:sp>
        <p:nvSpPr>
          <p:cNvPr id="13" name="Oval 12"/>
          <p:cNvSpPr/>
          <p:nvPr/>
        </p:nvSpPr>
        <p:spPr>
          <a:xfrm>
            <a:off x="5230993" y="3624580"/>
            <a:ext cx="365760" cy="365760"/>
          </a:xfrm>
          <a:prstGeom prst="ellips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7038" y="2770632"/>
            <a:ext cx="147366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12A46"/>
                </a:solidFill>
                <a:latin typeface="Segoe UI"/>
              </a:rPr>
              <a:t>Pregunta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97582"/>
                </a:solidFill>
                <a:latin typeface="Segoe UI"/>
              </a:rPr>
              <a:t>Nace de los datos</a:t>
            </a:r>
          </a:p>
        </p:txBody>
      </p:sp>
      <p:sp>
        <p:nvSpPr>
          <p:cNvPr id="15" name="Oval 14"/>
          <p:cNvSpPr/>
          <p:nvPr/>
        </p:nvSpPr>
        <p:spPr>
          <a:xfrm>
            <a:off x="6594934" y="3624580"/>
            <a:ext cx="365760" cy="365760"/>
          </a:xfrm>
          <a:prstGeom prst="ellipse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0979" y="4079240"/>
            <a:ext cx="147366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12A46"/>
                </a:solidFill>
                <a:latin typeface="Segoe UI"/>
              </a:rPr>
              <a:t>Limpieza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97582"/>
                </a:solidFill>
                <a:latin typeface="Segoe UI"/>
              </a:rPr>
              <a:t>Decisiones L1-L14</a:t>
            </a:r>
          </a:p>
        </p:txBody>
      </p:sp>
      <p:sp>
        <p:nvSpPr>
          <p:cNvPr id="17" name="Oval 16"/>
          <p:cNvSpPr/>
          <p:nvPr/>
        </p:nvSpPr>
        <p:spPr>
          <a:xfrm>
            <a:off x="7958875" y="3624580"/>
            <a:ext cx="365760" cy="365760"/>
          </a:xfrm>
          <a:prstGeom prst="ellips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4920" y="2770632"/>
            <a:ext cx="147366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12A46"/>
                </a:solidFill>
                <a:latin typeface="Segoe UI"/>
              </a:rPr>
              <a:t>Base de datos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97582"/>
                </a:solidFill>
                <a:latin typeface="Segoe UI"/>
              </a:rPr>
              <a:t>9 tablas</a:t>
            </a:r>
          </a:p>
        </p:txBody>
      </p:sp>
      <p:sp>
        <p:nvSpPr>
          <p:cNvPr id="19" name="Oval 18"/>
          <p:cNvSpPr/>
          <p:nvPr/>
        </p:nvSpPr>
        <p:spPr>
          <a:xfrm>
            <a:off x="9322816" y="3624580"/>
            <a:ext cx="365760" cy="365760"/>
          </a:xfrm>
          <a:prstGeom prst="ellipse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8861" y="4079240"/>
            <a:ext cx="147366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12A46"/>
                </a:solidFill>
                <a:latin typeface="Segoe UI"/>
              </a:rPr>
              <a:t>Docker + ETL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97582"/>
                </a:solidFill>
                <a:latin typeface="Segoe UI"/>
              </a:rPr>
              <a:t>Carga automática</a:t>
            </a:r>
          </a:p>
        </p:txBody>
      </p:sp>
      <p:sp>
        <p:nvSpPr>
          <p:cNvPr id="21" name="Oval 20"/>
          <p:cNvSpPr/>
          <p:nvPr/>
        </p:nvSpPr>
        <p:spPr>
          <a:xfrm>
            <a:off x="10686757" y="3624580"/>
            <a:ext cx="365760" cy="365760"/>
          </a:xfrm>
          <a:prstGeom prst="ellips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2802" y="2770632"/>
            <a:ext cx="147366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12A46"/>
                </a:solidFill>
                <a:latin typeface="Segoe UI"/>
              </a:rPr>
              <a:t>SQL y respuesta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97582"/>
                </a:solidFill>
                <a:latin typeface="Segoe UI"/>
              </a:rPr>
              <a:t>Análisis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91153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1">
                <a:solidFill>
                  <a:srgbClr val="697582"/>
                </a:solidFill>
                <a:latin typeface="Segoe UI"/>
              </a:rPr>
              <a:t>La exploración con cifras reales viene antes de la pregunta: primero se mira qué dicen los datos y después se plantea, con esa evidencia, la pregunta que se quiere responder.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01 · EL FENÓMENO FÍSICO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>
                <a:solidFill>
                  <a:srgbClr val="112A46"/>
                </a:solidFill>
                <a:latin typeface="Segoe UI"/>
              </a:rPr>
              <a:t>Cada átomo emite su propio código de luz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6751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Niveles de energía: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por dentro, un átomo solo puede existir en unos pocos “escalones” de energía permitidos, nunca a medio camino entre dos.</a:t>
            </a:r>
          </a:p>
          <a:p>
            <a:pPr>
              <a:lnSpc>
                <a:spcPct val="116000"/>
              </a:lnSpc>
              <a:spcAft>
                <a:spcPts val="15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Línea espectral: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cuando un electrón salta de un escalón alto a uno más bajo, libera exactamente esa diferencia de energía como luz de un color (longitud de onda) muy preciso.</a:t>
            </a:r>
          </a:p>
          <a:p>
            <a:pPr>
              <a:lnSpc>
                <a:spcPct val="116000"/>
              </a:lnSpc>
              <a:spcAft>
                <a:spcPts val="15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Coeficiente de Einstein (Aki):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mide qué tan rápido tiende a ocurrir ese salto por sí solo; es una tasa, no una probabilidad entre 0 y 1.</a:t>
            </a:r>
          </a:p>
          <a:p>
            <a:pPr>
              <a:lnSpc>
                <a:spcPct val="116000"/>
              </a:lnSpc>
              <a:spcAft>
                <a:spcPts val="15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Alcance del proyecto: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los primeros diez elementos de la tabla periódica, del hidrógeno (H) al neón (Ne), en su forma neutra y una vez ionizada.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828800"/>
            <a:ext cx="3913632" cy="4160520"/>
          </a:xfrm>
          <a:prstGeom prst="roundRect">
            <a:avLst>
              <a:gd name="adj" fmla="val 5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37744" rIns="219456" rtlCol="0" anchor="ctr"/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116B5F"/>
                </a:solidFill>
                <a:latin typeface="Segoe UI"/>
              </a:rPr>
              <a:t>En pocas palabras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112A46"/>
                </a:solidFill>
                <a:latin typeface="Segoe UI"/>
              </a:rPr>
              <a:t>Un átomo es como una escalera de energía.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27333F"/>
                </a:solidFill>
                <a:latin typeface="Segoe UI"/>
              </a:rPr>
              <a:t>Cuando un electrón baja un escalón, no se cae poco a poco: salta de golpe y ese salto “suena” como un color de luz específico.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7333F"/>
                </a:solidFill>
                <a:latin typeface="Segoe UI"/>
              </a:rPr>
              <a:t>Ese conjunto de colores posibles es como una huella digital: permite identificar de qué elemento viene la luz observada.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02 · LOS DATOS ORIGINALES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>
                <a:solidFill>
                  <a:srgbClr val="112A46"/>
                </a:solidFill>
                <a:latin typeface="Segoe UI"/>
              </a:rPr>
              <a:t>De la fuente oficial a un archivo que nunca se toca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Fuente: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NIST Atomic Spectra Database (ASD), la base de referencia internacional de espectros atómicos.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Qué se descargó: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dos catálogos independientes: líneas espectrales y niveles de energía, repartidos en 18 espectros o iones distintos (de H I a Ne II).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Evidencia intacta: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el archivo tal como lo entrega el NIST se guarda sin modificaciones; todo lo que viene después se hace sobre copias, nunca sobre el original.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Por qué con caché: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completar los niveles exige 19 solicitudes al servidor público del NIST; guardarlas evita repetirlas cada vez que se ejecuta el proyecto.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92040"/>
            <a:ext cx="3503066" cy="96012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rtlCol="0" anchor="ctr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16B5F"/>
                </a:solidFill>
                <a:latin typeface="Segoe UI"/>
              </a:rPr>
              <a:t>18 290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97582"/>
                </a:solidFill>
                <a:latin typeface="Segoe UI"/>
              </a:rPr>
              <a:t>filas de líneas espectrales descargadas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4314" y="4892040"/>
            <a:ext cx="3503066" cy="96012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rtlCol="0" anchor="ctr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16B5F"/>
                </a:solidFill>
                <a:latin typeface="Segoe UI"/>
              </a:rPr>
              <a:t>5 752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97582"/>
                </a:solidFill>
                <a:latin typeface="Segoe UI"/>
              </a:rPr>
              <a:t>niveles de energía descargados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8548" y="4892040"/>
            <a:ext cx="3503066" cy="96012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rtlCol="0" anchor="ctr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16B5F"/>
                </a:solidFill>
                <a:latin typeface="Segoe UI"/>
              </a:rPr>
              <a:t>18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97582"/>
                </a:solidFill>
                <a:latin typeface="Segoe UI"/>
              </a:rPr>
              <a:t>espectros / iones distintos (H a 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03 · EXPLORACIÓN — ESTRUCTURA Y TIPOS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600" b="1" i="0">
                <a:solidFill>
                  <a:srgbClr val="112A46"/>
                </a:solidFill>
                <a:latin typeface="Segoe UI"/>
              </a:rPr>
              <a:t>Qué hay realmente en el archivo, antes de tocar nada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577007" cy="86868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rtlCol="0" anchor="ctr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16B5F"/>
                </a:solidFill>
                <a:latin typeface="Segoe UI"/>
              </a:rPr>
              <a:t>18 290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97582"/>
                </a:solidFill>
                <a:latin typeface="Segoe UI"/>
              </a:rPr>
              <a:t>filas de líneas (antes de limpiar)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8255" y="1783080"/>
            <a:ext cx="2577007" cy="86868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rtlCol="0" anchor="ctr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16B5F"/>
                </a:solidFill>
                <a:latin typeface="Segoe UI"/>
              </a:rPr>
              <a:t>5 752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97582"/>
                </a:solidFill>
                <a:latin typeface="Segoe UI"/>
              </a:rPr>
              <a:t>niveles de energía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0" y="1783080"/>
            <a:ext cx="2577007" cy="86868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rtlCol="0" anchor="ctr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16B5F"/>
                </a:solidFill>
                <a:latin typeface="Segoe UI"/>
              </a:rPr>
              <a:t>18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97582"/>
                </a:solidFill>
                <a:latin typeface="Segoe UI"/>
              </a:rPr>
              <a:t>espectros distintos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4605" y="1783080"/>
            <a:ext cx="2577007" cy="86868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rtlCol="0" anchor="ctr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16B5F"/>
                </a:solidFill>
                <a:latin typeface="Segoe UI"/>
              </a:rPr>
              <a:t>26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97582"/>
                </a:solidFill>
                <a:latin typeface="Segoe UI"/>
              </a:rPr>
              <a:t>variables por línea en el modelo final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880360"/>
          <a:ext cx="10911535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6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8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Hallazgo</a:t>
                      </a:r>
                    </a:p>
                  </a:txBody>
                  <a:tcPr marR="73152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Evidencia medida</a:t>
                      </a:r>
                    </a:p>
                  </a:txBody>
                  <a:tcPr marR="73152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Qué implica</a:t>
                      </a:r>
                    </a:p>
                  </a:txBody>
                  <a:tcPr marR="73152">
                    <a:solidFill>
                      <a:srgbClr val="11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A46"/>
                          </a:solidFill>
                          <a:latin typeface="Segoe UI"/>
                        </a:rPr>
                        <a:t>Tipos de datos poco fiables a primera vista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7333F"/>
                          </a:solidFill>
                          <a:latin typeface="Segoe UI"/>
                        </a:rPr>
                        <a:t>Columnas que deberían ser numéricas (energías, incertidumbres) llegaban como texto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7333F"/>
                          </a:solidFill>
                          <a:latin typeface="Segoe UI"/>
                        </a:rPr>
                        <a:t>Hay que corregir el tipo de cada columna antes de calcular cualquier estadístico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A46"/>
                          </a:solidFill>
                          <a:latin typeface="Segoe UI"/>
                        </a:rPr>
                        <a:t>El truco del formato de exportación</a:t>
                      </a:r>
                    </a:p>
                  </a:txBody>
                  <a:tcPr marR="73152" marT="36576" marB="36576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7333F"/>
                          </a:solidFill>
                          <a:latin typeface="Segoe UI"/>
                        </a:rPr>
                        <a:t>Números escritos como ="91.23"; pandas los lee como texto, no como vacío</a:t>
                      </a:r>
                    </a:p>
                  </a:txBody>
                  <a:tcPr marR="73152" marT="36576" marB="36576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7333F"/>
                          </a:solidFill>
                          <a:latin typeface="Segoe UI"/>
                        </a:rPr>
                        <a:t>Cualquier conteo de nulos hecho antes de decodificar esto está equivocado</a:t>
                      </a:r>
                    </a:p>
                  </a:txBody>
                  <a:tcPr marR="73152" marT="36576" marB="36576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A46"/>
                          </a:solidFill>
                          <a:latin typeface="Segoe UI"/>
                        </a:rPr>
                        <a:t>Columnas casi vacías desde el inicio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7333F"/>
                          </a:solidFill>
                          <a:latin typeface="Segoe UI"/>
                        </a:rPr>
                        <a:t>4 columnas superan 69 % de valores ausentes (Landé, Prefix, Suffix, Leading %)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7333F"/>
                          </a:solidFill>
                          <a:latin typeface="Segoe UI"/>
                        </a:rPr>
                        <a:t>Son candidatas a descartarse en la limpieza, por evidencia y no por capricho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4406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697582"/>
                </a:solidFill>
                <a:latin typeface="Segoe UI"/>
              </a:rPr>
              <a:t>Nota metodológica: al no existir componente temporal en las propiedades atómicas tabuladas, no se construyen series de tiempo; las fechas presentes son solo bibliografía de las referencias, no una evolución del fenómeno.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03 · EXPLORACIÓN — FALTANTES Y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12A46"/>
                </a:solidFill>
                <a:latin typeface="Segoe UI"/>
              </a:rPr>
              <a:t>Cuánto falta y qué tan sano está el dato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5989320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6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rPr sz="1080" b="1" i="0">
                          <a:solidFill>
                            <a:srgbClr val="FFFFFF"/>
                          </a:solidFill>
                          <a:latin typeface="Segoe UI"/>
                        </a:rPr>
                        <a:t>Hallazgo</a:t>
                      </a:r>
                    </a:p>
                  </a:txBody>
                  <a:tcPr marR="73152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>
                          <a:solidFill>
                            <a:srgbClr val="FFFFFF"/>
                          </a:solidFill>
                          <a:latin typeface="Segoe UI"/>
                        </a:rPr>
                        <a:t>Evidencia medida</a:t>
                      </a:r>
                    </a:p>
                  </a:txBody>
                  <a:tcPr marR="73152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>
                          <a:solidFill>
                            <a:srgbClr val="FFFFFF"/>
                          </a:solidFill>
                          <a:latin typeface="Segoe UI"/>
                        </a:rPr>
                        <a:t>Qué implica</a:t>
                      </a:r>
                    </a:p>
                  </a:txBody>
                  <a:tcPr marR="73152">
                    <a:solidFill>
                      <a:srgbClr val="11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112A46"/>
                          </a:solidFill>
                          <a:latin typeface="Segoe UI"/>
                        </a:rPr>
                        <a:t>Ausencias reales reveladas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≈80 697 celdas, invisibles hasta decodificar el formato de exportación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Ese es el punto de partida real de la limpieza, no un problema nuevo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112A46"/>
                          </a:solidFill>
                          <a:latin typeface="Segoe UI"/>
                        </a:rPr>
                        <a:t>Duplicados vs. mediciones repetidas</a:t>
                      </a:r>
                    </a:p>
                  </a:txBody>
                  <a:tcPr marR="73152" marT="36576" marB="36576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0 filas idénticas; 70 líneas son la misma transición publicada por más de una fuente</a:t>
                      </a:r>
                    </a:p>
                  </a:txBody>
                  <a:tcPr marR="73152" marT="36576" marB="36576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Se marcan como evidencia adicional; no se eliminan como si fueran un error</a:t>
                      </a:r>
                    </a:p>
                  </a:txBody>
                  <a:tcPr marR="73152" marT="36576" marB="36576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112A46"/>
                          </a:solidFill>
                          <a:latin typeface="Segoe UI"/>
                        </a:rPr>
                        <a:t>Validación física básica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0 valores imposibles (λ&gt;0, Aki&gt;0, E_sup&gt;E_inf); g=2J+1 se cumple en 100 % de 5 570 niveles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El contenido físico del catálogo es confiable antes de limpiar nada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heatmap_falt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783080"/>
            <a:ext cx="4709160" cy="2273387"/>
          </a:xfrm>
          <a:prstGeom prst="rect">
            <a:avLst/>
          </a:prstGeom>
          <a:ln w="12700">
            <a:solidFill>
              <a:srgbClr val="DDE4E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12280" y="4111331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697582"/>
                </a:solidFill>
                <a:latin typeface="Segoe UI"/>
              </a:rPr>
              <a:t>Mapa de valores faltantes por variable, antes de cualquier limpieza.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03 · EXPLORACIÓN — DISTRIBUCIÓN Y ATÍPICOS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400" b="1" i="0">
                <a:solidFill>
                  <a:srgbClr val="112A46"/>
                </a:solidFill>
                <a:latin typeface="Segoe UI"/>
              </a:rPr>
              <a:t>Por qué hay que mirar estos datos en escala logarítmica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stribucion_atipicos_a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5577840" cy="3031434"/>
          </a:xfrm>
          <a:prstGeom prst="rect">
            <a:avLst/>
          </a:prstGeom>
          <a:ln w="12700">
            <a:solidFill>
              <a:srgbClr val="DDE4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4750506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697582"/>
                </a:solidFill>
                <a:latin typeface="Segoe UI"/>
              </a:rPr>
              <a:t>Histograma y diagrama de caja de log10(Aki); los puntos ámbar son atípicos IQR.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64208"/>
            <a:ext cx="5102352" cy="3429000"/>
          </a:xfrm>
          <a:prstGeom prst="roundRect">
            <a:avLst>
              <a:gd name="adj" fmla="val 5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0" rIns="201168" bIns="146304" rtlCol="0" anchor="ctr"/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Lectura del gráfico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00" b="0" i="0">
                <a:solidFill>
                  <a:srgbClr val="27333F"/>
                </a:solidFill>
                <a:latin typeface="Segoe UI"/>
              </a:rPr>
              <a:t>Forma de la distribución: la mayoría de los valores de Aki se concentran entre 10⁴ y 10⁷ s⁻¹ (transiciones permitidas), pero hay una cola larga hacia la izquierda, con Aki miles de veces menor, casi toda de tipo prohibido (M1, E2).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00" b="0" i="0">
                <a:solidFill>
                  <a:srgbClr val="27333F"/>
                </a:solidFill>
                <a:latin typeface="Segoe UI"/>
              </a:rPr>
              <a:t>Los puntos ámbar del diagrama de caja son los 2 181 casos que el criterio IQR marca como atípicos (17,3 %); casi todos caen en esa cola de Aki muy pequeño, no en valores extremadamente grandes.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27333F"/>
                </a:solidFill>
                <a:latin typeface="Segoe UI"/>
              </a:rPr>
              <a:t>Por qué la escala logarítmica: Aki depende aproximadamente del cubo de la frecuencia de emisión (A ∝ ν³); como ν = c/λ, esa dependencia se ve como una recta solo en escala log-log. En lineal, casi todos los puntos quedan aplastados cerca de cero y la correlación de Pearson se diluye a −0,0008.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4924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219456" bIns="91440" rtlCol="0" anchor="ctr"/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116B5F"/>
                </a:solidFill>
                <a:latin typeface="Segoe UI"/>
              </a:rPr>
              <a:t>QUÉ SE PUEDE INFERIR DE AQUÍ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050" b="1" i="0">
                <a:solidFill>
                  <a:srgbClr val="112A46"/>
                </a:solidFill>
                <a:latin typeface="Segoe UI"/>
              </a:rPr>
              <a:t>La cola de Aki pequeño no es ruido: </a:t>
            </a:r>
            <a:r>
              <a:rPr sz="1050" b="0" i="0">
                <a:solidFill>
                  <a:srgbClr val="27333F"/>
                </a:solidFill>
                <a:latin typeface="Segoe UI"/>
              </a:rPr>
              <a:t>son físicamente transiciones prohibidas, algo que se confirma cruzando con el tipo de transición en la limpieza y en los resultados.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050" b="1" i="0">
                <a:solidFill>
                  <a:srgbClr val="112A46"/>
                </a:solidFill>
                <a:latin typeface="Segoe UI"/>
              </a:rPr>
              <a:t>Pasar de r≈ 0 a r≈ −0,61 solo con la escala: </a:t>
            </a:r>
            <a:r>
              <a:rPr sz="1050" b="0" i="0">
                <a:solidFill>
                  <a:srgbClr val="27333F"/>
                </a:solidFill>
                <a:latin typeface="Segoe UI"/>
              </a:rPr>
              <a:t>confirma que la relación λ–Aki existe pero es de tipo potencia, no lineal; por eso todo el análisis posterior se hace en log-log.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050" b="1" i="0">
                <a:solidFill>
                  <a:srgbClr val="112A46"/>
                </a:solidFill>
                <a:latin typeface="Segoe UI"/>
              </a:rPr>
              <a:t>La cobertura desigual entre elementos: </a:t>
            </a:r>
            <a:r>
              <a:rPr sz="1050" b="0" i="0">
                <a:solidFill>
                  <a:srgbClr val="27333F"/>
                </a:solidFill>
                <a:latin typeface="Segoe UI"/>
              </a:rPr>
              <a:t>advierte que comparar Aki entre elementos sin mirar cuántos datos tiene cada uno puede llevar a conclusiones sesgadas.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FC7BD"/>
                </a:solidFill>
                <a:latin typeface="Segoe UI"/>
              </a:rPr>
              <a:t>LA PREGUNTA QUE NACE DE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1">
                <a:solidFill>
                  <a:srgbClr val="CFDDE8"/>
                </a:solidFill>
                <a:latin typeface="Segoe UI"/>
              </a:rPr>
              <a:t>La dispersión de Aki en más de veinte órdenes de magnitud, la relación que solo aparece en escala logarítmica y la cobertura desigual entre elementos llevan directamente a preguntar: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¿Cómo se distribuyen las líneas espectrales de los primeros diez elementos (H a Ne) a lo largo del espectro electromagnético, y qué relación existe entre la probabilidad de transición espontánea (Aki) y la longitud de onda de emisión, en cada elemento?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1">
                <a:solidFill>
                  <a:srgbClr val="CFDDE8"/>
                </a:solidFill>
                <a:latin typeface="Segoe UI"/>
              </a:rPr>
              <a:t>Cada decisión del proyecto — qué limpiar, cómo organizar la base de datos, qué consultar — se toma pensando en responder esta pregunta.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2C4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BB0C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BB0C2"/>
                </a:solidFill>
                <a:latin typeface="Segoe UI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04 · LIMPIEZA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>
                <a:solidFill>
                  <a:srgbClr val="112A46"/>
                </a:solidFill>
                <a:latin typeface="Segoe UI"/>
              </a:rPr>
              <a:t>Un dato ausente también es información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11535" cy="1051560"/>
          </a:xfrm>
          <a:prstGeom prst="roundRect">
            <a:avLst>
              <a:gd name="adj" fmla="val 12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32004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16B5F"/>
                </a:solidFill>
                <a:latin typeface="Segoe UI"/>
              </a:rPr>
              <a:t>“Que el NIST no haya medido el Aki de una línea no es un hueco que haya que tapar: es un hecho sobre el estado actual del conocimiento experimental.”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351525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0" rIns="219456" bIns="164592" rtlCol="0" anchor="ctr"/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8E7E"/>
                </a:solidFill>
                <a:latin typeface="Segoe UI"/>
              </a:rPr>
              <a:t>1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 i="0">
                <a:solidFill>
                  <a:srgbClr val="112A46"/>
                </a:solidFill>
                <a:latin typeface="Segoe UI"/>
              </a:rPr>
              <a:t>No se inventan valores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27333F"/>
                </a:solidFill>
                <a:latin typeface="Segoe UI"/>
              </a:rPr>
              <a:t>En las variables más importantes —longitud de onda, Aki, energías y elemento— nunca se rellena un vacío con un cálculo estadístico.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3200400"/>
            <a:ext cx="351525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0" rIns="219456" bIns="164592" rtlCol="0" anchor="ctr"/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8E7E"/>
                </a:solidFill>
                <a:latin typeface="Segoe UI"/>
              </a:rPr>
              <a:t>2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 i="0">
                <a:solidFill>
                  <a:srgbClr val="112A46"/>
                </a:solidFill>
                <a:latin typeface="Segoe UI"/>
              </a:rPr>
              <a:t>No se borran los casos raros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27333F"/>
                </a:solidFill>
                <a:latin typeface="Segoe UI"/>
              </a:rPr>
              <a:t>Los atípicos que se vieron en la exploración (17,3 % del Aki por IQR) no se eliminan: suelen ser transiciones reales pero poco comunes.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6356" y="3200400"/>
            <a:ext cx="351525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0" rIns="219456" bIns="164592" rtlCol="0" anchor="ctr"/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8E7E"/>
                </a:solidFill>
                <a:latin typeface="Segoe UI"/>
              </a:rPr>
              <a:t>3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 i="0">
                <a:solidFill>
                  <a:srgbClr val="112A46"/>
                </a:solidFill>
                <a:latin typeface="Segoe UI"/>
              </a:rPr>
              <a:t>Solo se quita lo que no es un dato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27333F"/>
                </a:solidFill>
                <a:latin typeface="Segoe UI"/>
              </a:rPr>
              <a:t>2 filas que eran encabezados repetidos del archivo, y 4 columnas secundarias con demasiados vacíos y poca relación con la pregunta.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04 · LIMPIEZA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12A46"/>
                </a:solidFill>
                <a:latin typeface="Segoe UI"/>
              </a:rPr>
              <a:t>De lo que se encontró a lo que se decidió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18607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219456" bIns="146304" rtlCol="0" anchor="ctr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E8E7E"/>
                </a:solidFill>
                <a:latin typeface="Segoe UI"/>
              </a:rPr>
              <a:t>L2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112A46"/>
                </a:solidFill>
                <a:latin typeface="Segoe UI"/>
              </a:rPr>
              <a:t>Una sola definición de longitud de onda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97582"/>
                </a:solidFill>
                <a:latin typeface="Segoe UI"/>
              </a:rPr>
              <a:t>SE ENCONTRÓ EN LA EXPLORACIÓN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La exploración mostró una columna de longitud de onda que mezclaba dos convenciones distintas: líneas medidas “en aire” y otras “en vacío”, sin distinguirlas.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97582"/>
                </a:solidFill>
                <a:latin typeface="Segoe UI"/>
              </a:rPr>
              <a:t>SE DECIDIÓ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Unificar todo a la convención de vacío (multiplicando por 1,00028 los valores en aire) y conservar el valor original en una columna aparte para poder auditarlo.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E8E7E"/>
                </a:solidFill>
                <a:latin typeface="Segoe UI"/>
              </a:rPr>
              <a:t>JUSTIFICACIÓN (DATO DE SOPORTE)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La diferencia es de solo ~0,03 %, pero es sistemática, no aleatoria: de los bloques del archivo, 10 428 líneas estaban en aire. Una columna con dos definiciones no es una variable, son 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18607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219456" bIns="146304" rtlCol="0" anchor="ctr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E8E7E"/>
                </a:solidFill>
                <a:latin typeface="Segoe UI"/>
              </a:rPr>
              <a:t>L8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112A46"/>
                </a:solidFill>
                <a:latin typeface="Segoe UI"/>
              </a:rPr>
              <a:t>Completar con el valor Ritz, no con un promedio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97582"/>
                </a:solidFill>
                <a:latin typeface="Segoe UI"/>
              </a:rPr>
              <a:t>SE ENCONTRÓ EN LA EXPLORACIÓN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Antes de este respaldo, cerca del 46 % de las líneas no tenían una longitud de onda medida en laboratorio (columna “observada” vacía).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97582"/>
                </a:solidFill>
                <a:latin typeface="Segoe UI"/>
              </a:rPr>
              <a:t>SE DECIDIÓ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Completar esos casos con el valor Ritz: la longitud de onda que se calcula directamente de la diferencia de energía entre los dos niveles del salto.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E8E7E"/>
                </a:solidFill>
                <a:latin typeface="Segoe UI"/>
              </a:rPr>
              <a:t>JUSTIFICACIÓN (DATO DE SOPORTE)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No es una estimación estadística inventada, es física derivada de los mismos niveles de energía. Gracias a esto, la base de líneas con λ y Aki disponibles pasó de 4 462 a 12 603.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04 · LIMPIEZA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12A46"/>
                </a:solidFill>
                <a:latin typeface="Segoe UI"/>
              </a:rPr>
              <a:t>De lo que se encontró a lo que se decidió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18607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219456" bIns="146304" rtlCol="0" anchor="ctr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E7CB1"/>
                </a:solidFill>
                <a:latin typeface="Segoe UI"/>
              </a:rPr>
              <a:t>L9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112A46"/>
                </a:solidFill>
                <a:latin typeface="Segoe UI"/>
              </a:rPr>
              <a:t>El Aki que falta, se deja en blanco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97582"/>
                </a:solidFill>
                <a:latin typeface="Segoe UI"/>
              </a:rPr>
              <a:t>SE ENCONTRÓ EN LA EXPLORACIÓN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5 685 líneas no tienen Aki medido, y la cobertura varía muchísimo entre espectros: de 12,2 % de ausencia en Ne II a 99,5 % en He I.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97582"/>
                </a:solidFill>
                <a:latin typeface="Segoe UI"/>
              </a:rPr>
              <a:t>SE DECIDIÓ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No imputar ningún valor de Aki. Se conserva vacío y se agrega una bandera (tiene_aki) para estudiar esa ausencia como un resultado más, no como un defecto a corregir.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3E7CB1"/>
                </a:solidFill>
                <a:latin typeface="Segoe UI"/>
              </a:rPr>
              <a:t>JUSTIFICACIÓN (DATO DE SOPORTE)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Rellenar el Aki equivaldría a inventar la respuesta a la propia pregunta del proyecto; y como la ausencia varía tanto por elemento, imputar con una media global sesgaría cada espectro distinto.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37360"/>
            <a:ext cx="5318607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219456" bIns="146304" rtlCol="0" anchor="ctr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98A2E"/>
                </a:solidFill>
                <a:latin typeface="Segoe UI"/>
              </a:rPr>
              <a:t>L13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112A46"/>
                </a:solidFill>
                <a:latin typeface="Segoe UI"/>
              </a:rPr>
              <a:t>Los atípicos se conservan, con evidencia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97582"/>
                </a:solidFill>
                <a:latin typeface="Segoe UI"/>
              </a:rPr>
              <a:t>SE ENCONTRÓ EN LA EXPLORACIÓN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El rango intercuartílico (IQR) marca 2 181 líneas (17,3 %) como atípicas en Aki.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97582"/>
                </a:solidFill>
                <a:latin typeface="Segoe UI"/>
              </a:rPr>
              <a:t>SE DECIDIÓ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No eliminar ninguna. El criterio IQR queda disponible como bandera de análisis, pero nunca se usa para filtrar filas.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C98A2E"/>
                </a:solidFill>
                <a:latin typeface="Segoe UI"/>
              </a:rPr>
              <a:t>JUSTIFICACIÓN (DATO DE SOPORTE)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La mayoría de esos atípicos corresponde a transiciones “prohibidas” (M1, E2), que físicamente tienen un Aki mucho menor: es una diferencia real entre tipos de transición, no un error de medición.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846320"/>
          <a:ext cx="1091153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5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80" b="1" i="0">
                          <a:solidFill>
                            <a:srgbClr val="FFFFFF"/>
                          </a:solidFill>
                          <a:latin typeface="Segoe UI"/>
                        </a:rPr>
                        <a:t>Concepto</a:t>
                      </a:r>
                    </a:p>
                  </a:txBody>
                  <a:tcPr marR="73152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>
                          <a:solidFill>
                            <a:srgbClr val="FFFFFF"/>
                          </a:solidFill>
                          <a:latin typeface="Segoe UI"/>
                        </a:rPr>
                        <a:t>Antes de la limpieza</a:t>
                      </a:r>
                    </a:p>
                  </a:txBody>
                  <a:tcPr marR="73152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>
                          <a:solidFill>
                            <a:srgbClr val="FFFFFF"/>
                          </a:solidFill>
                          <a:latin typeface="Segoe UI"/>
                        </a:rPr>
                        <a:t>Después de la limpieza</a:t>
                      </a:r>
                    </a:p>
                  </a:txBody>
                  <a:tcPr marR="73152">
                    <a:solidFill>
                      <a:srgbClr val="11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112A46"/>
                          </a:solidFill>
                          <a:latin typeface="Segoe UI"/>
                        </a:rPr>
                        <a:t>Filas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18 290 (incluye 2 encabezados incrustados)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18 288 líneas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112A46"/>
                          </a:solidFill>
                          <a:latin typeface="Segoe UI"/>
                        </a:rPr>
                        <a:t>Longitud de onda</a:t>
                      </a:r>
                    </a:p>
                  </a:txBody>
                  <a:tcPr marR="73152" marT="36576" marB="36576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Mezclada aire/vacío; ~46 % sin valor observado</a:t>
                      </a:r>
                    </a:p>
                  </a:txBody>
                  <a:tcPr marR="73152" marT="36576" marB="36576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Unificada a vacío; 100 % con valor definitivo</a:t>
                      </a:r>
                    </a:p>
                  </a:txBody>
                  <a:tcPr marR="73152" marT="36576" marB="36576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112A46"/>
                          </a:solidFill>
                          <a:latin typeface="Segoe UI"/>
                        </a:rPr>
                        <a:t>Outliers en Aki (IQR)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Detectados, sin decisión tomada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27333F"/>
                          </a:solidFill>
                          <a:latin typeface="Segoe UI"/>
                        </a:rPr>
                        <a:t>2 181 (17,3 %) conservados con justificación física</a:t>
                      </a:r>
                    </a:p>
                  </a:txBody>
                  <a:tcPr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05 · DISEÑO DE LA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>
                <a:solidFill>
                  <a:srgbClr val="112A46"/>
                </a:solidFill>
                <a:latin typeface="Segoe UI"/>
              </a:rPr>
              <a:t>De un archivo plano a una estructura con sentido físico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10512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7333F"/>
                </a:solidFill>
                <a:latin typeface="Segoe UI"/>
              </a:rPr>
              <a:t>En vez de cargar el CSV como una sola tabla gigante, la información se organizó en piezas que reflejan cómo funciona realmente el fenómeno.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515258" cy="28803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01168" rtlCol="0" anchor="ctr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E7CB1"/>
                </a:solidFill>
                <a:latin typeface="Segoe UI"/>
              </a:rPr>
              <a:t>4 tablas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 i="0">
                <a:solidFill>
                  <a:srgbClr val="112A46"/>
                </a:solidFill>
                <a:latin typeface="Segoe UI"/>
              </a:rPr>
              <a:t>Catálogos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7333F"/>
                </a:solidFill>
                <a:latin typeface="Segoe UI"/>
              </a:rPr>
              <a:t>elemento, tipo_transicion, exactitud y referencia: listas fijas que no deberían repetirse en cada fila, como el nombre de un elemento químico.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2514600"/>
            <a:ext cx="3515258" cy="288036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01168" rtlCol="0" anchor="ctr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8E7E"/>
                </a:solidFill>
                <a:latin typeface="Segoe UI"/>
              </a:rPr>
              <a:t>3 tablas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 i="0">
                <a:solidFill>
                  <a:srgbClr val="112A46"/>
                </a:solidFill>
                <a:latin typeface="Segoe UI"/>
              </a:rPr>
              <a:t>Entidades principales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7333F"/>
                </a:solidFill>
                <a:latin typeface="Segoe UI"/>
              </a:rPr>
              <a:t>espectro, nivel_energia y linea_espectral: el corazón del fenómeno —un elemento en un estado de ionización, sus escalones de energía y los saltos entre ellos.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6356" y="2514600"/>
            <a:ext cx="3515258" cy="2880360"/>
          </a:xfrm>
          <a:prstGeom prst="roundRect">
            <a:avLst>
              <a:gd name="adj" fmla="val 6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01168" rtlCol="0" anchor="ctr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C98A2E"/>
                </a:solidFill>
                <a:latin typeface="Segoe UI"/>
              </a:rPr>
              <a:t>2 tablas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 i="0">
                <a:solidFill>
                  <a:srgbClr val="112A46"/>
                </a:solidFill>
                <a:latin typeface="Segoe UI"/>
              </a:rPr>
              <a:t>Tablas puente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7333F"/>
                </a:solidFill>
                <a:latin typeface="Segoe UI"/>
              </a:rPr>
              <a:t>linea_referencia y nivel_referencia: resuelven las listas de referencias bibliográficas separadas por comas del archivo original.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97582"/>
                </a:solidFill>
                <a:latin typeface="Segoe UI"/>
              </a:rPr>
              <a:t>Total: 9 tablas + 1 vista de apoyo (v_linea_analisis), definidas en sql/schema.sql.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05 · DISEÑO DE LA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 dirty="0" err="1">
                <a:solidFill>
                  <a:srgbClr val="112A46"/>
                </a:solidFill>
                <a:latin typeface="Segoe UI"/>
              </a:rPr>
              <a:t>Cómo</a:t>
            </a:r>
            <a:r>
              <a:rPr sz="2800" b="1" i="0" dirty="0">
                <a:solidFill>
                  <a:srgbClr val="112A46"/>
                </a:solidFill>
                <a:latin typeface="Segoe UI"/>
              </a:rPr>
              <a:t> se </a:t>
            </a:r>
            <a:r>
              <a:rPr sz="2800" b="1" i="0" dirty="0" err="1">
                <a:solidFill>
                  <a:srgbClr val="112A46"/>
                </a:solidFill>
                <a:latin typeface="Segoe UI"/>
              </a:rPr>
              <a:t>conectan</a:t>
            </a:r>
            <a:r>
              <a:rPr sz="2800" b="1" i="0" dirty="0">
                <a:solidFill>
                  <a:srgbClr val="112A46"/>
                </a:solidFill>
                <a:latin typeface="Segoe UI"/>
              </a:rPr>
              <a:t> las </a:t>
            </a:r>
            <a:r>
              <a:rPr sz="2800" b="1" i="0" dirty="0" err="1">
                <a:solidFill>
                  <a:srgbClr val="112A46"/>
                </a:solidFill>
                <a:latin typeface="Segoe UI"/>
              </a:rPr>
              <a:t>piezas</a:t>
            </a:r>
            <a:endParaRPr sz="2800" b="1" i="0" dirty="0">
              <a:solidFill>
                <a:srgbClr val="112A4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417320" cy="566928"/>
          </a:xfrm>
          <a:prstGeom prst="roundRect">
            <a:avLst>
              <a:gd name="adj" fmla="val 14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elemento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catálogo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2331720"/>
            <a:ext cx="1417320" cy="566928"/>
          </a:xfrm>
          <a:prstGeom prst="roundRect">
            <a:avLst>
              <a:gd name="adj" fmla="val 14000"/>
            </a:avLst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espectro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entidad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2331720"/>
            <a:ext cx="1600200" cy="566928"/>
          </a:xfrm>
          <a:prstGeom prst="roundRect">
            <a:avLst>
              <a:gd name="adj" fmla="val 14000"/>
            </a:avLst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nivel_energía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entidad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194560"/>
            <a:ext cx="1874519" cy="822960"/>
          </a:xfrm>
          <a:prstGeom prst="roundRect">
            <a:avLst>
              <a:gd name="adj" fmla="val 14000"/>
            </a:avLst>
          </a:prstGeom>
          <a:solidFill>
            <a:srgbClr val="11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linea_espectral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entidad (hechos)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1554480" cy="502920"/>
          </a:xfrm>
          <a:prstGeom prst="roundRect">
            <a:avLst>
              <a:gd name="adj" fmla="val 14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tipo_transición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catálogo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606040"/>
            <a:ext cx="1554480" cy="502920"/>
          </a:xfrm>
          <a:prstGeom prst="roundRect">
            <a:avLst>
              <a:gd name="adj" fmla="val 14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exactitud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catálogo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4434840"/>
            <a:ext cx="1600200" cy="548640"/>
          </a:xfrm>
          <a:prstGeom prst="roundRect">
            <a:avLst>
              <a:gd name="adj" fmla="val 14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referencia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catálogo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794760"/>
            <a:ext cx="1691640" cy="502920"/>
          </a:xfrm>
          <a:prstGeom prst="roundRect">
            <a:avLst>
              <a:gd name="adj" fmla="val 14000"/>
            </a:avLst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nivel_referencia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tabla puente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794760"/>
            <a:ext cx="1783080" cy="502920"/>
          </a:xfrm>
          <a:prstGeom prst="roundRect">
            <a:avLst>
              <a:gd name="adj" fmla="val 14000"/>
            </a:avLst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linea_referencia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tabla puente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48740" y="2615184"/>
            <a:ext cx="1691640" cy="0"/>
          </a:xfrm>
          <a:prstGeom prst="line">
            <a:avLst/>
          </a:prstGeom>
          <a:ln w="15875">
            <a:solidFill>
              <a:srgbClr val="11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40380" y="2615184"/>
            <a:ext cx="1783080" cy="0"/>
          </a:xfrm>
          <a:prstGeom prst="line">
            <a:avLst/>
          </a:prstGeom>
          <a:ln w="15875">
            <a:solidFill>
              <a:srgbClr val="11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23560" y="2441448"/>
            <a:ext cx="320040" cy="88696"/>
          </a:xfrm>
          <a:prstGeom prst="line">
            <a:avLst/>
          </a:prstGeom>
          <a:ln w="15875">
            <a:solidFill>
              <a:srgbClr val="11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23560" y="2728569"/>
            <a:ext cx="320040" cy="83211"/>
          </a:xfrm>
          <a:prstGeom prst="line">
            <a:avLst/>
          </a:prstGeom>
          <a:ln w="15875">
            <a:solidFill>
              <a:srgbClr val="11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80859" y="2080260"/>
            <a:ext cx="2125981" cy="525780"/>
          </a:xfrm>
          <a:prstGeom prst="line">
            <a:avLst/>
          </a:prstGeom>
          <a:ln w="15875">
            <a:solidFill>
              <a:srgbClr val="11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80859" y="2606040"/>
            <a:ext cx="2125981" cy="251460"/>
          </a:xfrm>
          <a:prstGeom prst="line">
            <a:avLst/>
          </a:prstGeom>
          <a:ln w="15875">
            <a:solidFill>
              <a:srgbClr val="11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040380" y="2615184"/>
            <a:ext cx="1783080" cy="1431036"/>
          </a:xfrm>
          <a:prstGeom prst="line">
            <a:avLst/>
          </a:prstGeom>
          <a:ln w="15875">
            <a:solidFill>
              <a:srgbClr val="C9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40380" y="4046220"/>
            <a:ext cx="1783080" cy="662940"/>
          </a:xfrm>
          <a:prstGeom prst="line">
            <a:avLst/>
          </a:prstGeom>
          <a:ln w="15875">
            <a:solidFill>
              <a:srgbClr val="C9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80859" y="2606040"/>
            <a:ext cx="1" cy="1440180"/>
          </a:xfrm>
          <a:prstGeom prst="line">
            <a:avLst/>
          </a:prstGeom>
          <a:ln w="15875">
            <a:solidFill>
              <a:srgbClr val="C9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823460" y="4046220"/>
            <a:ext cx="2057400" cy="662940"/>
          </a:xfrm>
          <a:prstGeom prst="line">
            <a:avLst/>
          </a:prstGeom>
          <a:ln w="15875">
            <a:solidFill>
              <a:srgbClr val="C9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63440" y="3063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1">
                <a:solidFill>
                  <a:srgbClr val="112A46"/>
                </a:solidFill>
                <a:latin typeface="Segoe UI"/>
              </a:rPr>
              <a:t>doble FK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091153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7333F"/>
                </a:solidFill>
                <a:latin typeface="Segoe UI"/>
              </a:rPr>
              <a:t>Una línea ES un salto entre dos niveles: </a:t>
            </a:r>
            <a:r>
              <a:rPr sz="1250" b="0" i="0">
                <a:solidFill>
                  <a:srgbClr val="27333F"/>
                </a:solidFill>
                <a:latin typeface="Segoe UI"/>
              </a:rPr>
              <a:t>por eso linea_espectral apunta dos veces a nivel_energía (nivel de salida y nivel de llegada).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7333F"/>
                </a:solidFill>
                <a:latin typeface="Segoe UI"/>
              </a:rPr>
              <a:t>Las referencias dejaron de ser texto libre: </a:t>
            </a:r>
            <a:r>
              <a:rPr sz="1250" b="0" i="0">
                <a:solidFill>
                  <a:srgbClr val="27333F"/>
                </a:solidFill>
                <a:latin typeface="Segoe UI"/>
              </a:rPr>
              <a:t>las listas separadas por comas del archivo original ahora son filas independientes, conectadas mediante tablas puente.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7333F"/>
                </a:solidFill>
                <a:latin typeface="Segoe UI"/>
              </a:rPr>
              <a:t>Resultado: </a:t>
            </a:r>
            <a:r>
              <a:rPr sz="1250" b="0" i="0">
                <a:solidFill>
                  <a:srgbClr val="27333F"/>
                </a:solidFill>
                <a:latin typeface="Segoe UI"/>
              </a:rPr>
              <a:t>no se repite información y es imposible guardar una línea que apunte a un nivel o una referencia que no existe.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00DE3-C582-385E-F7F4-9B09D5848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861" y="1316736"/>
            <a:ext cx="7008665" cy="51078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9C22C4-2116-1930-1D61-1F21FE0814F4}"/>
              </a:ext>
            </a:extLst>
          </p:cNvPr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05 · DISEÑO DE LA BASE DE DATOS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310FE-5BE4-6CB0-1B30-35E20782D84A}"/>
              </a:ext>
            </a:extLst>
          </p:cNvPr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 dirty="0" err="1">
                <a:solidFill>
                  <a:srgbClr val="112A46"/>
                </a:solidFill>
                <a:latin typeface="Segoe UI"/>
              </a:rPr>
              <a:t>Cómo</a:t>
            </a:r>
            <a:r>
              <a:rPr sz="2800" b="1" i="0" dirty="0">
                <a:solidFill>
                  <a:srgbClr val="112A46"/>
                </a:solidFill>
                <a:latin typeface="Segoe UI"/>
              </a:rPr>
              <a:t> se </a:t>
            </a:r>
            <a:r>
              <a:rPr sz="2800" b="1" i="0" dirty="0" err="1">
                <a:solidFill>
                  <a:srgbClr val="112A46"/>
                </a:solidFill>
                <a:latin typeface="Segoe UI"/>
              </a:rPr>
              <a:t>conectan</a:t>
            </a:r>
            <a:r>
              <a:rPr sz="2800" b="1" i="0" dirty="0">
                <a:solidFill>
                  <a:srgbClr val="112A46"/>
                </a:solidFill>
                <a:latin typeface="Segoe UI"/>
              </a:rPr>
              <a:t> las </a:t>
            </a:r>
            <a:r>
              <a:rPr sz="2800" b="1" i="0" dirty="0" err="1">
                <a:solidFill>
                  <a:srgbClr val="112A46"/>
                </a:solidFill>
                <a:latin typeface="Segoe UI"/>
              </a:rPr>
              <a:t>piezas</a:t>
            </a:r>
            <a:endParaRPr sz="2800" b="1" i="0" dirty="0">
              <a:solidFill>
                <a:srgbClr val="112A46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7729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06 · INFRAESTRUCTURA CON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>
                <a:solidFill>
                  <a:srgbClr val="112A46"/>
                </a:solidFill>
                <a:latin typeface="Segoe UI"/>
              </a:rPr>
              <a:t>Un entorno que cualquiera puede reconstruir igual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309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0"/>
              </a:spcAft>
            </a:pPr>
            <a:r>
              <a:rPr sz="145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27333F"/>
                </a:solidFill>
                <a:latin typeface="Segoe UI"/>
              </a:rPr>
              <a:t>Dos contenedores: </a:t>
            </a:r>
            <a:r>
              <a:rPr sz="1450" b="0" i="0">
                <a:solidFill>
                  <a:srgbClr val="27333F"/>
                </a:solidFill>
                <a:latin typeface="Segoe UI"/>
              </a:rPr>
              <a:t>uno con MySQL 8.4 y otro con JupyterLab, cada uno definido en docker-compose.yml.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145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27333F"/>
                </a:solidFill>
                <a:latin typeface="Segoe UI"/>
              </a:rPr>
              <a:t>Una misma red interna: </a:t>
            </a:r>
            <a:r>
              <a:rPr sz="1450" b="0" i="0">
                <a:solidFill>
                  <a:srgbClr val="27333F"/>
                </a:solidFill>
                <a:latin typeface="Segoe UI"/>
              </a:rPr>
              <a:t>los contenedores se hablan por el nombre del servicio (mysql), no por localhost, igual que lo harían dos servidores distintos.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145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27333F"/>
                </a:solidFill>
                <a:latin typeface="Segoe UI"/>
              </a:rPr>
              <a:t>Persistencia garantizada: </a:t>
            </a:r>
            <a:r>
              <a:rPr sz="1450" b="0" i="0">
                <a:solidFill>
                  <a:srgbClr val="27333F"/>
                </a:solidFill>
                <a:latin typeface="Segoe UI"/>
              </a:rPr>
              <a:t>MySQL guarda su información en un volumen (mysql_data); si el contenedor se detiene o se reconstruye, los datos siguen intactos.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145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27333F"/>
                </a:solidFill>
                <a:latin typeface="Segoe UI"/>
              </a:rPr>
              <a:t>Un solo comando: </a:t>
            </a:r>
            <a:r>
              <a:rPr sz="1450" b="0" i="0">
                <a:solidFill>
                  <a:srgbClr val="27333F"/>
                </a:solidFill>
                <a:latin typeface="Segoe UI"/>
              </a:rPr>
              <a:t>docker compose up -d levanta toda la arquitectura, lista para conectarse desde JupyterLab o DBeaver.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965960"/>
            <a:ext cx="4206240" cy="77724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12A46"/>
                </a:solidFill>
                <a:latin typeface="Segoe UI"/>
              </a:rPr>
              <a:t>Contenedor: mysql_container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Imagen mysql:8.4 · puerto 3306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246120"/>
            <a:ext cx="4206240" cy="77724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12A46"/>
                </a:solidFill>
                <a:latin typeface="Segoe UI"/>
              </a:rPr>
              <a:t>Contenedor: jupyter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scipy-notebook · puerto 8888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418320" y="2743200"/>
            <a:ext cx="0" cy="502920"/>
          </a:xfrm>
          <a:prstGeom prst="line">
            <a:avLst/>
          </a:prstGeom>
          <a:ln w="22225">
            <a:solidFill>
              <a:srgbClr val="11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35240" y="2788920"/>
            <a:ext cx="3566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12A46"/>
                </a:solidFill>
                <a:latin typeface="Segoe UI"/>
              </a:rPr>
              <a:t>red interna: jupyter_mysql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297680"/>
            <a:ext cx="4206240" cy="594360"/>
          </a:xfrm>
          <a:prstGeom prst="roundRect">
            <a:avLst>
              <a:gd name="adj" fmla="val 15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12A46"/>
                </a:solidFill>
                <a:latin typeface="Segoe UI"/>
              </a:rPr>
              <a:t>Volumen persistente: mysql_data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4023360"/>
            <a:ext cx="0" cy="274320"/>
          </a:xfrm>
          <a:prstGeom prst="line">
            <a:avLst/>
          </a:prstGeom>
          <a:ln w="22225">
            <a:solidFill>
              <a:srgbClr val="C9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14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B78868-1ECF-DA8C-134A-3C432ED45FFA}"/>
              </a:ext>
            </a:extLst>
          </p:cNvPr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06 · INFRAESTRUCTURA CON DOCKER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F44DE-5597-C978-7CBC-D6A81FE032CF}"/>
              </a:ext>
            </a:extLst>
          </p:cNvPr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>
                <a:solidFill>
                  <a:srgbClr val="112A46"/>
                </a:solidFill>
                <a:latin typeface="Segoe UI"/>
              </a:rPr>
              <a:t>Un entorno que cualquiera puede reconstruir igual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3CA550-69F6-D1E2-7668-F3D762444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9" y="1313868"/>
            <a:ext cx="6311698" cy="30790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04A758-AE8B-DA0C-F25E-09D3A70E4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701"/>
          <a:stretch>
            <a:fillRect/>
          </a:stretch>
        </p:blipFill>
        <p:spPr>
          <a:xfrm>
            <a:off x="6852931" y="2853379"/>
            <a:ext cx="4906450" cy="363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40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07 · CARGA AUTOMÁTICA (ETL)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>
                <a:solidFill>
                  <a:srgbClr val="112A46"/>
                </a:solidFill>
                <a:latin typeface="Segoe UI"/>
              </a:rPr>
              <a:t>De los datos limpios a las tablas, sin escribir una fila a mano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Mismo proceso, ejecutado en código: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el pipeline se conecta a MySQL desde JupyterLab, repite la limpieza ya justificada y separa la información en las 9 tablas del esquema.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Reproducible (idempotente):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cada ejecución vacía las tablas respetando el orden de las relaciones y las vuelve a llenar, así la base se puede reconstruir desde cero cuantas veces sea necesario.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Verificación antes y después de cargar: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se revisa que ninguna línea apunte a un nivel de energía inexistente.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46320"/>
            <a:ext cx="3503066" cy="96012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rtlCol="0" anchor="ctr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16B5F"/>
                </a:solidFill>
                <a:latin typeface="Segoe UI"/>
              </a:rPr>
              <a:t>9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97582"/>
                </a:solidFill>
                <a:latin typeface="Segoe UI"/>
              </a:rPr>
              <a:t>tablas pobladas de forma automática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4314" y="4846320"/>
            <a:ext cx="3503066" cy="96012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rtlCol="0" anchor="ctr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16B5F"/>
                </a:solidFill>
                <a:latin typeface="Segoe UI"/>
              </a:rPr>
              <a:t>52 812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97582"/>
                </a:solidFill>
                <a:latin typeface="Segoe UI"/>
              </a:rPr>
              <a:t>filas cargadas en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8548" y="4846320"/>
            <a:ext cx="3503066" cy="96012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rtlCol="0" anchor="ctr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16B5F"/>
                </a:solidFill>
                <a:latin typeface="Segoe UI"/>
              </a:rPr>
              <a:t>0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97582"/>
                </a:solidFill>
                <a:latin typeface="Segoe UI"/>
              </a:rPr>
              <a:t>referencias rotas (llaves foráneas huérfanas)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15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dirty="0">
                <a:solidFill>
                  <a:srgbClr val="116B5F"/>
                </a:solidFill>
                <a:latin typeface="Segoe UI"/>
              </a:rPr>
              <a:t>08 · CONSULTAS SQL Y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410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 dirty="0">
                <a:solidFill>
                  <a:srgbClr val="112A46"/>
                </a:solidFill>
                <a:latin typeface="Segoe UI"/>
              </a:rPr>
              <a:t>El SQL </a:t>
            </a:r>
            <a:r>
              <a:rPr sz="2800" b="1" i="0" dirty="0" err="1">
                <a:solidFill>
                  <a:srgbClr val="112A46"/>
                </a:solidFill>
                <a:latin typeface="Segoe UI"/>
              </a:rPr>
              <a:t>como</a:t>
            </a:r>
            <a:r>
              <a:rPr sz="2800" b="1" i="0" dirty="0">
                <a:solidFill>
                  <a:srgbClr val="112A46"/>
                </a:solidFill>
                <a:latin typeface="Segoe UI"/>
              </a:rPr>
              <a:t> </a:t>
            </a:r>
            <a:r>
              <a:rPr sz="2800" b="1" i="0" dirty="0" err="1">
                <a:solidFill>
                  <a:srgbClr val="112A46"/>
                </a:solidFill>
                <a:latin typeface="Segoe UI"/>
              </a:rPr>
              <a:t>herramienta</a:t>
            </a:r>
            <a:r>
              <a:rPr sz="2800" b="1" i="0" dirty="0">
                <a:solidFill>
                  <a:srgbClr val="112A46"/>
                </a:solidFill>
                <a:latin typeface="Segoe UI"/>
              </a:rPr>
              <a:t> para responder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8652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6400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8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Complejidad creciente: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de conteos simples a agrupamientos, combinaciones (JOIN) entre líneas y niveles, y subconsultas para encontrar los espectros peor documentados.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Siempre atadas a la pregunta: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unas consultas responden cómo se distribuyen las líneas en el espectro; otras, cómo se relacionan Aki y la longitud de onda.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27333F"/>
                </a:solidFill>
                <a:latin typeface="Segoe UI"/>
              </a:rPr>
              <a:t>SQL entrega, Python interpreta: </a:t>
            </a:r>
            <a:r>
              <a:rPr sz="1500" b="0" i="0">
                <a:solidFill>
                  <a:srgbClr val="27333F"/>
                </a:solidFill>
                <a:latin typeface="Segoe UI"/>
              </a:rPr>
              <a:t>los resultados se traen a Pandas para graficarlos y sacarles una lectura física, no solo para mostrarlos como tabla.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874519"/>
            <a:ext cx="4160520" cy="40233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19456" rtlCol="0" anchor="ctr"/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112A46"/>
                </a:solidFill>
                <a:latin typeface="Segoe UI"/>
              </a:rPr>
              <a:t>Orden de las consultas (C1–C8)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C1  Inventario general de la base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C2  Líneas por región del espectro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C3  % de líneas con Aki, por espectro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C4  Aki típico por tipo de transición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C5  Subconjunto de alta exactitud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C6  JOIN doble hacia los niveles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C7  Espectros peor documentados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7333F"/>
                </a:solidFill>
                <a:latin typeface="Segoe UI"/>
              </a:rPr>
              <a:t>C8  Extracción para el análisis en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16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C65840-C3E1-F2F0-4829-E3BF235AD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351" y="1622403"/>
            <a:ext cx="5991676" cy="4843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1309B9-D91E-75A7-FBCE-6C22475A4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8" y="1622402"/>
            <a:ext cx="5633884" cy="4843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187CF8-059B-47D0-F4E6-A241777EA882}"/>
              </a:ext>
            </a:extLst>
          </p:cNvPr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dirty="0">
                <a:solidFill>
                  <a:srgbClr val="116B5F"/>
                </a:solidFill>
                <a:latin typeface="Segoe UI"/>
              </a:rPr>
              <a:t>08 · CONSULTAS SQL Y ANÁLISIS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188DBD-9A52-538E-BC6A-A574E25D80F5}"/>
              </a:ext>
            </a:extLst>
          </p:cNvPr>
          <p:cNvSpPr txBox="1"/>
          <p:nvPr/>
        </p:nvSpPr>
        <p:spPr>
          <a:xfrm>
            <a:off x="640080" y="640080"/>
            <a:ext cx="10911535" cy="410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 dirty="0">
                <a:solidFill>
                  <a:srgbClr val="112A46"/>
                </a:solidFill>
                <a:latin typeface="Segoe UI"/>
              </a:rPr>
              <a:t>El SQL </a:t>
            </a:r>
            <a:r>
              <a:rPr sz="2800" b="1" i="0" dirty="0" err="1">
                <a:solidFill>
                  <a:srgbClr val="112A46"/>
                </a:solidFill>
                <a:latin typeface="Segoe UI"/>
              </a:rPr>
              <a:t>como</a:t>
            </a:r>
            <a:r>
              <a:rPr sz="2800" b="1" i="0" dirty="0">
                <a:solidFill>
                  <a:srgbClr val="112A46"/>
                </a:solidFill>
                <a:latin typeface="Segoe UI"/>
              </a:rPr>
              <a:t> </a:t>
            </a:r>
            <a:r>
              <a:rPr sz="2800" b="1" i="0" dirty="0" err="1">
                <a:solidFill>
                  <a:srgbClr val="112A46"/>
                </a:solidFill>
                <a:latin typeface="Segoe UI"/>
              </a:rPr>
              <a:t>herramienta</a:t>
            </a:r>
            <a:r>
              <a:rPr sz="2800" b="1" i="0" dirty="0">
                <a:solidFill>
                  <a:srgbClr val="112A46"/>
                </a:solidFill>
                <a:latin typeface="Segoe UI"/>
              </a:rPr>
              <a:t> para responder</a:t>
            </a:r>
          </a:p>
        </p:txBody>
      </p:sp>
    </p:spTree>
    <p:extLst>
      <p:ext uri="{BB962C8B-B14F-4D97-AF65-F5344CB8AC3E}">
        <p14:creationId xmlns:p14="http://schemas.microsoft.com/office/powerpoint/2010/main" val="3775299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09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>
                <a:solidFill>
                  <a:srgbClr val="112A46"/>
                </a:solidFill>
                <a:latin typeface="Segoe UI"/>
              </a:rPr>
              <a:t>¿En qué parte de la luz caen estas transiciones?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arras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654" y="1691907"/>
            <a:ext cx="8828386" cy="3052805"/>
          </a:xfrm>
          <a:prstGeom prst="rect">
            <a:avLst/>
          </a:prstGeom>
          <a:ln w="12700">
            <a:solidFill>
              <a:srgbClr val="DDE4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4078736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697582"/>
                </a:solidFill>
                <a:latin typeface="Segoe UI"/>
              </a:rPr>
              <a:t>Líneas espectrales de H a Ne por región del espectro electromagnético.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78" y="5217568"/>
            <a:ext cx="2903957" cy="6979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300" b="1" i="0" dirty="0">
                <a:solidFill>
                  <a:srgbClr val="1E8E7E"/>
                </a:solidFill>
                <a:latin typeface="Segoe UI"/>
              </a:rPr>
              <a:t>● 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Infrarrojo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(43,3 %) y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ultravioleta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(34,7 %)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juntos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concentran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cerca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de 8 de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cada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10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líneas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catalogadas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 err="1">
                <a:solidFill>
                  <a:srgbClr val="697582"/>
                </a:solidFill>
                <a:latin typeface="Segoe UI"/>
              </a:rPr>
              <a:t>Sustentación</a:t>
            </a:r>
            <a:r>
              <a:rPr sz="1000" b="0" i="0" dirty="0">
                <a:solidFill>
                  <a:srgbClr val="697582"/>
                </a:solidFill>
                <a:latin typeface="Segoe UI"/>
              </a:rPr>
              <a:t> · </a:t>
            </a:r>
            <a:r>
              <a:rPr sz="1000" b="0" i="0" dirty="0" err="1">
                <a:solidFill>
                  <a:srgbClr val="697582"/>
                </a:solidFill>
                <a:latin typeface="Segoe UI"/>
              </a:rPr>
              <a:t>Óptica</a:t>
            </a:r>
            <a:r>
              <a:rPr sz="1000" b="0" i="0" dirty="0">
                <a:solidFill>
                  <a:srgbClr val="697582"/>
                </a:solidFill>
                <a:latin typeface="Segoe UI"/>
              </a:rPr>
              <a:t> y </a:t>
            </a:r>
            <a:r>
              <a:rPr sz="1000" b="0" i="0" dirty="0" err="1">
                <a:solidFill>
                  <a:srgbClr val="697582"/>
                </a:solidFill>
                <a:latin typeface="Segoe UI"/>
              </a:rPr>
              <a:t>fotónica</a:t>
            </a:r>
            <a:r>
              <a:rPr sz="1000" b="0" i="0" dirty="0">
                <a:solidFill>
                  <a:srgbClr val="697582"/>
                </a:solidFill>
                <a:latin typeface="Segoe UI"/>
              </a:rPr>
              <a:t> (NIST ASD)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17 / 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2B52A1-01EC-E9A2-D491-EC8278B2EFD3}"/>
              </a:ext>
            </a:extLst>
          </p:cNvPr>
          <p:cNvSpPr txBox="1"/>
          <p:nvPr/>
        </p:nvSpPr>
        <p:spPr>
          <a:xfrm>
            <a:off x="4549935" y="5217568"/>
            <a:ext cx="2903957" cy="6979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300" b="1" i="0" dirty="0">
                <a:solidFill>
                  <a:srgbClr val="1E8E7E"/>
                </a:solidFill>
                <a:latin typeface="Segoe UI"/>
              </a:rPr>
              <a:t>●  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La luz visible para el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ojo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humano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representa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solo el 20,9 % de las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transiciones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documentadas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618BCE-C3D1-0CED-CD49-30B38A9D7596}"/>
              </a:ext>
            </a:extLst>
          </p:cNvPr>
          <p:cNvSpPr txBox="1"/>
          <p:nvPr/>
        </p:nvSpPr>
        <p:spPr>
          <a:xfrm>
            <a:off x="8289880" y="5181834"/>
            <a:ext cx="2903957" cy="9380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300" b="1" i="0" dirty="0">
                <a:solidFill>
                  <a:srgbClr val="1E8E7E"/>
                </a:solidFill>
                <a:latin typeface="Segoe UI"/>
              </a:rPr>
              <a:t>●  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Esto describe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cuántas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transiciones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distintas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están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catalogadas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, no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cuánta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luz visible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emitiría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realmente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una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lámpara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con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estos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27333F"/>
                </a:solidFill>
                <a:latin typeface="Segoe UI"/>
              </a:rPr>
              <a:t>elementos</a:t>
            </a:r>
            <a:r>
              <a:rPr sz="1300" b="0" i="0" dirty="0">
                <a:solidFill>
                  <a:srgbClr val="27333F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16B5F"/>
                </a:solidFill>
                <a:latin typeface="Segoe UI"/>
              </a:rPr>
              <a:t>09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12A46"/>
                </a:solidFill>
                <a:latin typeface="Segoe UI"/>
              </a:rPr>
              <a:t>Las transiciones más lentas emiten en longitudes de onda mayores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26464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atter_log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75" y="1783080"/>
            <a:ext cx="4382770" cy="2651760"/>
          </a:xfrm>
          <a:prstGeom prst="rect">
            <a:avLst/>
          </a:prstGeom>
          <a:ln w="12700">
            <a:solidFill>
              <a:srgbClr val="DDE4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4489704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697582"/>
                </a:solidFill>
                <a:latin typeface="Segoe UI"/>
              </a:rPr>
              <a:t>Aki frente a longitud de onda, escala log-log (por elemento).</a:t>
            </a:r>
          </a:p>
        </p:txBody>
      </p:sp>
      <p:pic>
        <p:nvPicPr>
          <p:cNvPr id="7" name="Picture 6" descr="boxplot_aki_ti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3080"/>
            <a:ext cx="5166360" cy="1848514"/>
          </a:xfrm>
          <a:prstGeom prst="rect">
            <a:avLst/>
          </a:prstGeom>
          <a:ln w="12700">
            <a:solidFill>
              <a:srgbClr val="DDE4E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355080" y="3686458"/>
            <a:ext cx="5166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697582"/>
                </a:solidFill>
                <a:latin typeface="Segoe UI"/>
              </a:rPr>
              <a:t>log10(Aki) según el tipo de transición (permitida vs. prohibida).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91153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27333F"/>
                </a:solidFill>
                <a:latin typeface="Segoe UI"/>
              </a:rPr>
              <a:t>Tendencia consistente: </a:t>
            </a:r>
            <a:r>
              <a:rPr sz="1200" b="0" i="0">
                <a:solidFill>
                  <a:srgbClr val="27333F"/>
                </a:solidFill>
                <a:latin typeface="Segoe UI"/>
              </a:rPr>
              <a:t>comparando Aki y la longitud de onda en escala logarítmica, aparece una relación negativa clara en los 10 elementos estudiados.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27333F"/>
                </a:solidFill>
                <a:latin typeface="Segoe UI"/>
              </a:rPr>
              <a:t>No es un error, es física distinta: </a:t>
            </a:r>
            <a:r>
              <a:rPr sz="1200" b="0" i="0">
                <a:solidFill>
                  <a:srgbClr val="27333F"/>
                </a:solidFill>
                <a:latin typeface="Segoe UI"/>
              </a:rPr>
              <a:t>las transiciones “permitidas” (E1) tienen un Aki típico mucho más alto que las “prohibidas” (M1, E2).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27333F"/>
                </a:solidFill>
                <a:latin typeface="Segoe UI"/>
              </a:rPr>
              <a:t>Con matices: </a:t>
            </a:r>
            <a:r>
              <a:rPr sz="1200" b="0" i="0">
                <a:solidFill>
                  <a:srgbClr val="27333F"/>
                </a:solidFill>
                <a:latin typeface="Segoe UI"/>
              </a:rPr>
              <a:t>la fuerza de la tendencia no es igual en todos los elementos, en parte porque no todos tienen la misma cantidad de mediciones de Aki disponibles.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97582"/>
                </a:solidFill>
                <a:latin typeface="Segoe UI"/>
              </a:rPr>
              <a:t>18 /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FC7BD"/>
                </a:solidFill>
                <a:latin typeface="Segoe UI"/>
              </a:rPr>
              <a:t>10 ·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Respondiendo la pregunta que abrió 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822960" cy="50800"/>
          </a:xfrm>
          <a:prstGeom prst="rect">
            <a:avLst/>
          </a:prstGeom>
          <a:solidFill>
            <a:srgbClr val="1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Distribución: </a:t>
            </a:r>
            <a:r>
              <a:rPr sz="1500" b="0" i="0">
                <a:solidFill>
                  <a:srgbClr val="D8E3EC"/>
                </a:solidFill>
                <a:latin typeface="Segoe UI"/>
              </a:rPr>
              <a:t>casi 8 de cada 10 líneas catalogadas del hidrógeno al neón están en infrarrojo o ultravioleta; solo 2 de cada 10 caen en el rango visible.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Relación Aki–λ: </a:t>
            </a:r>
            <a:r>
              <a:rPr sz="1500" b="0" i="0">
                <a:solidFill>
                  <a:srgbClr val="D8E3EC"/>
                </a:solidFill>
                <a:latin typeface="Segoe UI"/>
              </a:rPr>
              <a:t>donde el NIST sí midió el Aki, los 10 elementos muestran la misma tendencia: a mayor longitud de onda, menor tasa de transición espontánea.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 i="0">
                <a:solidFill>
                  <a:srgbClr val="1E8E7E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Con una salvedad honesta: </a:t>
            </a:r>
            <a:r>
              <a:rPr sz="1500" b="0" i="0">
                <a:solidFill>
                  <a:srgbClr val="D8E3EC"/>
                </a:solidFill>
                <a:latin typeface="Segoe UI"/>
              </a:rPr>
              <a:t>estos resultados describen lo que está catalogado, no la potencia real de una fuente de luz, y comparar elementos exige tener en cuenta que no todos están medidos con la misma cobertura.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92040"/>
            <a:ext cx="10911535" cy="960120"/>
          </a:xfrm>
          <a:prstGeom prst="roundRect">
            <a:avLst>
              <a:gd name="adj" fmla="val 15000"/>
            </a:avLst>
          </a:prstGeom>
          <a:solidFill>
            <a:srgbClr val="183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Un archivo CSV se convirtió en un sistema reproducible: descarga → exploración con evidencia → limpieza justificada → base de datos relacional → consultas → respuesta científica.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E8E7E"/>
                </a:solidFill>
                <a:latin typeface="Segoe UI"/>
              </a:rPr>
              <a:t>Gracias — Preguntas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55664"/>
            <a:ext cx="10911535" cy="12700"/>
          </a:xfrm>
          <a:prstGeom prst="rect">
            <a:avLst/>
          </a:prstGeom>
          <a:solidFill>
            <a:srgbClr val="2C4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5288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BB0C2"/>
                </a:solidFill>
                <a:latin typeface="Segoe UI"/>
              </a:rPr>
              <a:t>Sustentación · Óptica y fotónica (NIST ASD)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BB0C2"/>
                </a:solidFill>
                <a:latin typeface="Segoe U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3336</Words>
  <Application>Microsoft Office PowerPoint</Application>
  <PresentationFormat>Widescreen</PresentationFormat>
  <Paragraphs>305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ANDRES DAVID PEREZ CRIOLLO</cp:lastModifiedBy>
  <cp:revision>2</cp:revision>
  <dcterms:created xsi:type="dcterms:W3CDTF">2013-01-27T09:14:16Z</dcterms:created>
  <dcterms:modified xsi:type="dcterms:W3CDTF">2026-09-21T16:20:20Z</dcterms:modified>
  <cp:category/>
</cp:coreProperties>
</file>